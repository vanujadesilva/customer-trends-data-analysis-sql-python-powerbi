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Revenue by Gender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4AB3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2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B3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7A8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2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Revenue by Age Group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D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2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B3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A6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7A8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2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2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2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Customer Segments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7A8C"/>
              </a:solidFill>
              <a:effectLst/>
            </c:spPr>
          </c:dPt>
          <c:dPt>
            <c:idx val="1"/>
            <c:bubble3D val="0"/>
            <c:spPr>
              <a:solidFill>
                <a:srgbClr val="4AB3C8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E7A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7A8C"/>
              </a:solidFill>
              <a:effectLst/>
            </c:spPr>
          </c:dPt>
          <c:dPt>
            <c:idx val="1"/>
            <c:bubble3D val="0"/>
            <c:spPr>
              <a:solidFill>
                <a:srgbClr val="E8F0F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Subscribers</c:v>
                </c:pt>
                <c:pt idx="1">
                  <c:v>Non-Subscribers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1053</c:v>
                </c:pt>
                <c:pt idx="1">
                  <c:v>2847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E7A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D7A8C">
              <a:alpha val="18000"/>
            </a:srgbClr>
          </a:solidFill>
          <a:ln w="12700">
            <a:solidFill>
              <a:srgbClr val="1D7A8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560320" cy="2560320"/>
          </a:xfrm>
          <a:prstGeom prst="ellipse">
            <a:avLst/>
          </a:prstGeom>
          <a:solidFill>
            <a:srgbClr val="4AB3C8">
              <a:alpha val="12000"/>
            </a:srgbClr>
          </a:solidFill>
          <a:ln w="12700">
            <a:solidFill>
              <a:srgbClr val="4AB3C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A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spending patterns, customer segments &amp; strategic insights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32004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Purchases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Columns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 + Power BI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71600"/>
            <a:ext cx="594360" cy="59436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8988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rows, 18 features, data cleaning process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4023360" cy="10058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" y="2578608"/>
            <a:ext cx="594360" cy="59436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59689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Insights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8529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 and age group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4023360" cy="10058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" y="3785616"/>
            <a:ext cx="594360" cy="59436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80390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6941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0599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products, discount dependency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023360" cy="10058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74336" y="1371600"/>
            <a:ext cx="594360" cy="59436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38988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16459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Loyal, returning and new buyers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395728"/>
            <a:ext cx="4023360" cy="10058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74336" y="2578608"/>
            <a:ext cx="594360" cy="59436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259689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28529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vs non-subscriber behaviour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602736"/>
            <a:ext cx="4023360" cy="10058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74336" y="3785616"/>
            <a:ext cx="594360" cy="59436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380390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6941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0" y="40599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for growth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1920240" cy="12344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88720"/>
            <a:ext cx="1920240" cy="6400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47472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188720"/>
            <a:ext cx="1920240" cy="12344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1188720"/>
            <a:ext cx="192024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53712" y="1188720"/>
            <a:ext cx="1920240" cy="12344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1188720"/>
            <a:ext cx="19202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53712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56832" y="1188720"/>
            <a:ext cx="1920240" cy="123444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56832" y="1188720"/>
            <a:ext cx="192024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56832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017520"/>
            <a:ext cx="73152" cy="41148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017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218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Location, Subscription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639312"/>
            <a:ext cx="73152" cy="41148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" y="3840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Amount, Season, Size, Color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261104"/>
            <a:ext cx="73152" cy="41148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261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Discounts, Promo Codes, Frequency, Shipping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Steps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108960"/>
            <a:ext cx="182880" cy="182880"/>
          </a:xfrm>
          <a:prstGeom prst="ellipse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3,900 rows with pandas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456432"/>
            <a:ext cx="182880" cy="182880"/>
          </a:xfrm>
          <a:prstGeom prst="ellipse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364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37 missing review ratings using category median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182880" cy="182880"/>
          </a:xfrm>
          <a:prstGeom prst="ellipse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7124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to snake_case for consistency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4151376"/>
            <a:ext cx="182880" cy="182880"/>
          </a:xfrm>
          <a:prstGeom prst="ellipse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40599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age_group and purchase_frequency_days columns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4498848"/>
            <a:ext cx="182880" cy="182880"/>
          </a:xfrm>
          <a:prstGeom prst="ellipse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407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redundant promo_code_used column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846320"/>
            <a:ext cx="182880" cy="182880"/>
          </a:xfrm>
          <a:prstGeom prst="ellipse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4754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cleaned data into PostgreSQL for SQL analysis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Insights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972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D6EEF5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5445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 2x more revenue than female ($157,890 vs $75,191). Young Adults are the top-spending age group at $62,143.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63040" y="1682496"/>
            <a:ext cx="3474720" cy="164592"/>
          </a:xfrm>
          <a:prstGeom prst="rect">
            <a:avLst/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682496"/>
            <a:ext cx="2682484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727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1214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63040" y="2231136"/>
            <a:ext cx="3474720" cy="164592"/>
          </a:xfrm>
          <a:prstGeom prst="rect">
            <a:avLst/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2231136"/>
            <a:ext cx="266858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214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26700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463040" y="2779776"/>
            <a:ext cx="3474720" cy="164592"/>
          </a:xfrm>
          <a:prstGeom prst="rect">
            <a:avLst/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2779776"/>
            <a:ext cx="2654686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6700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3218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463040" y="3328416"/>
            <a:ext cx="3474720" cy="164592"/>
          </a:xfrm>
          <a:prstGeom prst="rect">
            <a:avLst/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3328416"/>
            <a:ext cx="2640787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2186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463040" y="3877056"/>
            <a:ext cx="3474720" cy="164592"/>
          </a:xfrm>
          <a:prstGeom prst="rect">
            <a:avLst/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3877056"/>
            <a:ext cx="2626888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7673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3.78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Discount-Dependent Products</a:t>
            </a:r>
            <a:endParaRPr lang="en-US" sz="14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754880" y="155448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407408"/>
            <a:ext cx="2103120" cy="59436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74320" y="4416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$58.46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74320" y="4709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Shipping Avg.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606040" y="4407408"/>
            <a:ext cx="2103120" cy="59436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606040" y="4416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$60.48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606040" y="4709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Avg.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754880" y="4407408"/>
            <a:ext cx="411480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users spend more per order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143000"/>
            <a:ext cx="4206240" cy="1170432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1143000"/>
            <a:ext cx="91440" cy="117043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0" y="1216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of total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46320" y="18196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5 previous purchases. Core revenue base.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441448"/>
            <a:ext cx="4206240" cy="1170432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441448"/>
            <a:ext cx="91440" cy="1170432"/>
          </a:xfrm>
          <a:prstGeom prst="rect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2514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7512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customers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 of total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46320" y="31181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 and 5 previous purchases. Good upsell target.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3739896"/>
            <a:ext cx="4206240" cy="1170432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3739896"/>
            <a:ext cx="91440" cy="1170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3813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75120" y="3813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customers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4151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 of total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46320" y="4416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purchase so far. Need nurturing campaigns.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D6EEF5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per category: </a:t>
            </a:r>
            <a:pPr algn="l"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Accessories: Jewelry (171) | Clothing: Blouse &amp; Pants (171) | Footwear: Sandals (160) | Outerwear: Jacket (163)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1993392" cy="137160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88720"/>
            <a:ext cx="1993392" cy="7315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335024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19933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31343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customers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14016" y="1188720"/>
            <a:ext cx="1993392" cy="137160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14016" y="1188720"/>
            <a:ext cx="1993392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1335024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14016" y="19933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14016" y="231343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1993392" cy="137160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188720"/>
            <a:ext cx="1993392" cy="73152"/>
          </a:xfrm>
          <a:prstGeom prst="rect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335024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19933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Avg. Spend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31343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188720"/>
            <a:ext cx="1993392" cy="1371600"/>
          </a:xfrm>
          <a:prstGeom prst="rect">
            <a:avLst/>
          </a:prstGeom>
          <a:solidFill>
            <a:srgbClr val="F4F8FA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1188720"/>
            <a:ext cx="1993392" cy="73152"/>
          </a:xfrm>
          <a:prstGeom prst="rect">
            <a:avLst/>
          </a:prstGeom>
          <a:solidFill>
            <a:srgbClr val="5E7A8A"/>
          </a:solidFill>
          <a:ln w="12700">
            <a:solidFill>
              <a:srgbClr val="5E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335024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29984" y="19933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 Avg. Spend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9984" y="231343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2743200"/>
          <a:ext cx="3657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20624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vs Subscription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206240" y="3246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with 5+ purchases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206240" y="3566160"/>
            <a:ext cx="4114800" cy="274320"/>
          </a:xfrm>
          <a:prstGeom prst="rect">
            <a:avLst/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3566160"/>
            <a:ext cx="4114800" cy="274320"/>
          </a:xfrm>
          <a:prstGeom prst="rect">
            <a:avLst/>
          </a:prstGeom>
          <a:solidFill>
            <a:srgbClr val="5E7A8A"/>
          </a:solidFill>
          <a:ln w="12700">
            <a:solidFill>
              <a:srgbClr val="5E7A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94192" y="3566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206240" y="4069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with 5+ purchases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206240" y="4389120"/>
            <a:ext cx="4114800" cy="274320"/>
          </a:xfrm>
          <a:prstGeom prst="rect">
            <a:avLst/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06240" y="4389120"/>
            <a:ext cx="1565520" cy="27432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94192" y="4389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958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206240" y="47731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repeat buyers are NOT subscribed, representing a major conversion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 Conversions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2,518 loyal non-subscribers with exclusive perks. Even a 10% conversion rate would significantly grow recurring revenue.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4AB3C8"/>
          </a:solidFill>
          <a:ln w="12700">
            <a:solidFill>
              <a:srgbClr val="4AB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070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Loyal Customers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190195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tiered loyalty program. With 3,116 loyal buyers (80%), retaining and rewarding this group should be a top priority.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7432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070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190195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Hats, Sneakers and Coats have 48-50% discount rates. Balance promotional spend against margin to avoid training customers to wait for discounts.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91640" y="29077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91640" y="2907792"/>
            <a:ext cx="27432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3017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High-Value Segments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83080" y="3712464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and Male customers drive the most revenue. Focus premium campaigns and new product launches on these groups first.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9077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907792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17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Top-Rated Products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3712464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Gloves, Sandals and Boots have the highest satisfaction scores. Feature them in email campaigns and on the homepage to drive conversions.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D7A8C">
              <a:alpha val="15000"/>
            </a:srgbClr>
          </a:solidFill>
          <a:ln w="12700">
            <a:solidFill>
              <a:srgbClr val="1D7A8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AB3C8">
              <a:alpha val="12000"/>
            </a:srgbClr>
          </a:solidFill>
          <a:ln w="12700">
            <a:solidFill>
              <a:srgbClr val="4AB3C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852928"/>
            <a:ext cx="27432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Analyzed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by Senior Data Analysis Team  |  Tools: Python, PostgreSQL, Power BI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Senior Data Analysis Team</dc:creator>
  <cp:lastModifiedBy>Senior Data Analysis Team</cp:lastModifiedBy>
  <cp:revision>1</cp:revision>
  <dcterms:created xsi:type="dcterms:W3CDTF">2026-06-06T06:57:30Z</dcterms:created>
  <dcterms:modified xsi:type="dcterms:W3CDTF">2026-06-06T06:57:30Z</dcterms:modified>
</cp:coreProperties>
</file>